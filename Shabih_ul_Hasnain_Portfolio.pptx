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-457200"/>
            <a:ext cx="4572000" cy="365760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2560320" cy="256032"/>
          </a:xfrm>
          <a:prstGeom prst="rect">
            <a:avLst/>
          </a:prstGeom>
          <a:solidFill>
            <a:srgbClr val="152545"/>
          </a:solidFill>
          <a:ln w="5080">
            <a:solidFill>
              <a:srgbClr val="5B8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B8DF8"/>
                </a:solidFill>
              </a:rPr>
              <a:t>AVAILABLE · MIDDLE EAST &amp; NORTH AMERICA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Driving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5B8DF8"/>
                </a:solidFill>
              </a:rPr>
              <a:t>Through AI, Data &amp; Enterprise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Shabih ul Hasnain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0"/>
                </a:solidFill>
              </a:rPr>
              <a:t>Sr. Manager · Digital Transformation &amp; AI Enablement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4558"/>
                </a:solidFill>
              </a:rPr>
              <a:t>shabih@cuttingedgeai.tech  ·  cuttingedgeai.tech  ·  calendly.com/shabih-hasnain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34840"/>
            <a:ext cx="2011680" cy="1371600"/>
          </a:xfrm>
          <a:prstGeom prst="rect">
            <a:avLst/>
          </a:prstGeom>
          <a:solidFill>
            <a:srgbClr val="18181F"/>
          </a:solidFill>
          <a:ln w="635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544568"/>
            <a:ext cx="18288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B8DF8"/>
                </a:solidFill>
              </a:rPr>
              <a:t>23+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89220"/>
            <a:ext cx="18288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0"/>
                </a:solidFill>
              </a:rPr>
              <a:t>Years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4434840"/>
            <a:ext cx="2011680" cy="1371600"/>
          </a:xfrm>
          <a:prstGeom prst="rect">
            <a:avLst/>
          </a:prstGeom>
          <a:solidFill>
            <a:srgbClr val="18181F"/>
          </a:solidFill>
          <a:ln w="635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4544568"/>
            <a:ext cx="18288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B8DF8"/>
                </a:solidFill>
              </a:rPr>
              <a:t>$30B+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5189220"/>
            <a:ext cx="18288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0"/>
                </a:solidFill>
              </a:rPr>
              <a:t>Programs Supported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434840"/>
            <a:ext cx="2011680" cy="1371600"/>
          </a:xfrm>
          <a:prstGeom prst="rect">
            <a:avLst/>
          </a:prstGeom>
          <a:solidFill>
            <a:srgbClr val="18181F"/>
          </a:solidFill>
          <a:ln w="635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544568"/>
            <a:ext cx="18288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B8DF8"/>
                </a:solidFill>
              </a:rPr>
              <a:t>120+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189220"/>
            <a:ext cx="18288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0"/>
                </a:solidFill>
              </a:rPr>
              <a:t>Projects Delivered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4434840"/>
            <a:ext cx="2011680" cy="1371600"/>
          </a:xfrm>
          <a:prstGeom prst="rect">
            <a:avLst/>
          </a:prstGeom>
          <a:solidFill>
            <a:srgbClr val="18181F"/>
          </a:solidFill>
          <a:ln w="635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59" y="4544568"/>
            <a:ext cx="18288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B8DF8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5189220"/>
            <a:ext cx="18288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0"/>
                </a:solidFill>
              </a:rPr>
              <a:t>Countries Worked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4434840"/>
            <a:ext cx="2011680" cy="1371600"/>
          </a:xfrm>
          <a:prstGeom prst="rect">
            <a:avLst/>
          </a:prstGeom>
          <a:solidFill>
            <a:srgbClr val="18181F"/>
          </a:solidFill>
          <a:ln w="635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544568"/>
            <a:ext cx="18288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B8DF8"/>
                </a:solidFill>
              </a:rPr>
              <a:t>600+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189220"/>
            <a:ext cx="18288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0"/>
                </a:solidFill>
              </a:rPr>
              <a:t>Users Trained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457200"/>
            <a:ext cx="2286000" cy="3474720"/>
          </a:xfrm>
          <a:prstGeom prst="rect">
            <a:avLst/>
          </a:prstGeom>
          <a:solidFill>
            <a:srgbClr val="18181F"/>
          </a:solidFill>
          <a:ln w="635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54558"/>
                </a:solidFill>
              </a:rPr>
              <a:t>[ Photo ]</a:t>
            </a:r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842" y="365760"/>
            <a:ext cx="302895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DF8"/>
                </a:solidFill>
              </a:rPr>
              <a:t>──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Who I Am &amp; What I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7132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0"/>
                </a:solidFill>
              </a:rPr>
              <a:t>Shabih ul Hasnain is a seasoned Digital Transformation &amp; AI Enablement Leader with 23+ years of proven impact across construction, energy, aviation, and public infrastructure. Currently serving as Sr. Manager of Digital Transformation at El-Seif Engineering &amp; Contracting in Saudi Arabia, he leads enterprise-wide AI adoption, intelligent automation, and data modernization — delivering measurable results including hundreds of hours per month recovered through automation.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834640"/>
            <a:ext cx="2697480" cy="1280160"/>
          </a:xfrm>
          <a:prstGeom prst="rect">
            <a:avLst/>
          </a:prstGeom>
          <a:solidFill>
            <a:srgbClr val="18181F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🤖  AI Enablement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291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Claude, Copilot, n8n, Emergent, Lovable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79" y="2834640"/>
            <a:ext cx="2697480" cy="1280160"/>
          </a:xfrm>
          <a:prstGeom prst="rect">
            <a:avLst/>
          </a:prstGeom>
          <a:solidFill>
            <a:srgbClr val="18181F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Digital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3291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Governance, BPO, Change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834640"/>
            <a:ext cx="2697480" cy="1280160"/>
          </a:xfrm>
          <a:prstGeom prst="rect">
            <a:avLst/>
          </a:prstGeom>
          <a:solidFill>
            <a:srgbClr val="18181F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Business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291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Power BI, Tableau, SQL, Denodo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51960"/>
            <a:ext cx="2697480" cy="1280160"/>
          </a:xfrm>
          <a:prstGeom prst="rect">
            <a:avLst/>
          </a:prstGeom>
          <a:solidFill>
            <a:srgbClr val="18181F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3616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☁️  Oracle &amp;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7091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Unifier, PCM, Contract Mgmt,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79" y="4251960"/>
            <a:ext cx="2697480" cy="1280160"/>
          </a:xfrm>
          <a:prstGeom prst="rect">
            <a:avLst/>
          </a:prstGeom>
          <a:solidFill>
            <a:srgbClr val="18181F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43616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📐  Project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47091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P6, EVM, Cost Control,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251960"/>
            <a:ext cx="2697480" cy="1280160"/>
          </a:xfrm>
          <a:prstGeom prst="rect">
            <a:avLst/>
          </a:prstGeom>
          <a:solidFill>
            <a:srgbClr val="18181F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43616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🏛️  PMO &amp;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47091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Portfolio Mgmt, Frameworks, Agile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188720"/>
            <a:ext cx="2834640" cy="5394960"/>
          </a:xfrm>
          <a:prstGeom prst="rect">
            <a:avLst/>
          </a:prstGeom>
          <a:solidFill>
            <a:srgbClr val="18181F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8DF8"/>
                </a:solidFill>
              </a:rPr>
              <a:t>KEY FIGURES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691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B8DF8"/>
                </a:solidFill>
              </a:rPr>
              <a:t>23+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0756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Yrs Exp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4963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B8DF8"/>
                </a:solidFill>
              </a:rPr>
              <a:t>$30B+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880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Programs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30098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B8DF8"/>
                </a:solidFill>
              </a:rPr>
              <a:t>6TB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850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Data Migrated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10565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B8DF8"/>
                </a:solidFill>
              </a:rPr>
              <a:t>98%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4897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Query Reduction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9103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B8DF8"/>
                </a:solidFill>
              </a:rPr>
              <a:t>35%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2943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Adoption Increase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715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B8DF8"/>
                </a:solidFill>
              </a:rPr>
              <a:t>600+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0990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Users Trained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DF8"/>
                </a:solidFill>
              </a:rPr>
              <a:t>── CAREER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23 Years of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234440"/>
            <a:ext cx="45720" cy="521208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1243584"/>
            <a:ext cx="274320" cy="27432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1188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2023–Present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188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El-Seif Engineering &amp; Contracting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43560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8DF8"/>
                </a:solidFill>
              </a:rPr>
              <a:t>Sr. Manager, Digital Transformation · Saudi Arabia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459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InEight rollout · REST API integration · AI automation suite · Digital Governance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8448" y="2029968"/>
            <a:ext cx="274320" cy="27432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" y="197510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2020–2023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975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Metrolinx / Comtech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22199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8DF8"/>
                </a:solidFill>
              </a:rPr>
              <a:t>Migration Lead / Integration Manager · Toronto, Canada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3230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6TB Oracle migration · 120+ projects · Power BI rollout · P6+ECOSYS 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8448" y="2816352"/>
            <a:ext cx="274320" cy="27432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" y="27614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2019–2020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7614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Trans Alta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00837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8DF8"/>
                </a:solidFill>
              </a:rPr>
              <a:t>BI Developer · Calgary, Canada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21868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98% Denodo query optimisation · 5 executive dashboards · COVID capacity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98448" y="3602736"/>
            <a:ext cx="274320" cy="27432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" y="35478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2016–2018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5478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Cenovus Energy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7947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8DF8"/>
                </a:solidFill>
              </a:rPr>
              <a:t>Sr. Business Analyst — SCMT · Calgary, Canada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00507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Oracle CM implementation · 8-feed Maximo integration · Weeks → 2-3hr reconciliation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8448" y="4389120"/>
            <a:ext cx="274320" cy="27432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43342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2009–2011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3342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PARSONS International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58114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8DF8"/>
                </a:solidFill>
              </a:rPr>
              <a:t>Program Controls Systems Manager · Abu Dhabi, UAE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79145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$10B+ Airport Expansion · ARES-PRISM · 60-80 hrs/month reporting savings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98448" y="5175503"/>
            <a:ext cx="274320" cy="27432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" y="51206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2007–2009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120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ALDAR Laing O'Rourke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367527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8DF8"/>
                </a:solidFill>
              </a:rPr>
              <a:t>Project Controls Manager · Abu Dhabi, UAE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57784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$20B Al Raha Beach · Largest PCM deployment in region · 1,000 active users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98448" y="5961888"/>
            <a:ext cx="274320" cy="27432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" y="590702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2002–2006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9070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PROJACS International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615391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8DF8"/>
                </a:solidFill>
              </a:rPr>
              <a:t>Project Controls Engineer · Abu Dhabi &amp; Dubai, UAE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636422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$850M Shuweihat WTS (6 months vs 2-yr plan) · Palm Jumeirah Tunnel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1097280"/>
            <a:ext cx="4572000" cy="5394960"/>
          </a:xfrm>
          <a:prstGeom prst="rect">
            <a:avLst/>
          </a:prstGeom>
          <a:solidFill>
            <a:srgbClr val="18181F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12070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DF8"/>
                </a:solidFill>
              </a:rPr>
              <a:t>EDUCATION &amp; CREDENTIALS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1600200"/>
            <a:ext cx="4297680" cy="749808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16733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16733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Masters in Project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19842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2007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52360" y="2514600"/>
            <a:ext cx="4297680" cy="749808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25877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25877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Bachelor of Computer Engineering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28986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2002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52360" y="3429000"/>
            <a:ext cx="4297680" cy="749808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43800" y="35021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35021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PMP — PMI Certified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38130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Valid 2021–2027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52360" y="4343400"/>
            <a:ext cx="4297680" cy="749808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44165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44165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ARES PRISM Administration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0" y="47274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2010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52360" y="5257800"/>
            <a:ext cx="4297680" cy="749808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43800" y="53309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5330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Primavera CM Training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0" y="56418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CMCS · 2006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4114800" cy="256032"/>
          </a:xfrm>
          <a:prstGeom prst="rect">
            <a:avLst/>
          </a:prstGeom>
          <a:solidFill>
            <a:srgbClr val="101830"/>
          </a:solidFill>
          <a:ln w="5080">
            <a:solidFill>
              <a:srgbClr val="5B8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B8DF8"/>
                </a:solidFill>
              </a:rPr>
              <a:t>DIGITAL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InEight Platform — Company-Wide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0"/>
                </a:solidFill>
              </a:rPr>
              <a:t>El-Seif Engineering &amp; Contracting · Saudi Arabia · 2023–Present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36192"/>
            <a:ext cx="7132320" cy="100584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End-to-end implementation of InEight Project Management with a live two-way REST API integration with ACONEX, scaling to 80+ active users and permanently eliminating 80–100 hours per week of manual document entry.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474720" cy="1920240"/>
          </a:xfrm>
          <a:prstGeom prst="rect">
            <a:avLst/>
          </a:prstGeom>
          <a:solidFill>
            <a:srgbClr val="1A0808"/>
          </a:solidFill>
          <a:ln w="508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</a:rPr>
              <a:t>⚠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35 document controllers manually re-entering data between ACONEX and InEight — 80–100 hrs/week lost, high error risk, unscalable.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33472"/>
            <a:ext cx="3474720" cy="1920240"/>
          </a:xfrm>
          <a:prstGeom prst="rect">
            <a:avLst/>
          </a:prstGeom>
          <a:solidFill>
            <a:srgbClr val="061A10"/>
          </a:solidFill>
          <a:ln w="508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✦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Engineered a live bidirectional REST API integration. Designed phased project-by-project adoption strategy. Built automated executive dashboards. Created Digital Governance Framework.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105156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93776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InEight 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35608" y="4919472"/>
            <a:ext cx="896112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937760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REST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41448" y="4919472"/>
            <a:ext cx="740664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937760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ACONEX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4919472"/>
            <a:ext cx="896112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4937760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Power 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919472"/>
            <a:ext cx="105156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93776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SharePoint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58968" y="4919472"/>
            <a:ext cx="740664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4937760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Claude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919472"/>
            <a:ext cx="818388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937760"/>
            <a:ext cx="7269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Copilot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146304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8DF8"/>
                </a:solidFill>
              </a:rPr>
              <a:t>80–100h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084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Per week
recovered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74320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27889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8DF8"/>
                </a:solidFill>
              </a:rPr>
              <a:t>80+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Active
users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402336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4069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8DF8"/>
                </a:solidFill>
              </a:rPr>
              <a:t>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Controllers
freed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5303519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53492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8DF8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592531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Manual
transfers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4558"/>
                </a:solidFill>
              </a:rPr>
              <a:t>cuttingedgeai.tech  ·  shabih@cuttingedgeai.tech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4114800" cy="256032"/>
          </a:xfrm>
          <a:prstGeom prst="rect">
            <a:avLst/>
          </a:prstGeom>
          <a:solidFill>
            <a:srgbClr val="101830"/>
          </a:solidFill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</a:rPr>
              <a:t>AI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Enterprise AI Workflow Automation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0"/>
                </a:solidFill>
              </a:rPr>
              <a:t>El-Seif Engineering &amp; Contracting · Saudi Arabia · 2023–Present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36192"/>
            <a:ext cx="7132320" cy="100584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Deployed a suite of intelligent automation workflows using Claude, Microsoft Copilot, n8n, Emergent, and Lovable — eliminating hundreds of hours of manual work per month across all departments.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474720" cy="1920240"/>
          </a:xfrm>
          <a:prstGeom prst="rect">
            <a:avLst/>
          </a:prstGeom>
          <a:solidFill>
            <a:srgbClr val="1A0808"/>
          </a:solidFill>
          <a:ln w="508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</a:rPr>
              <a:t>⚠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Teams spending hundreds of hours monthly on report compilation, data re-entry, document formatting — consuming skilled professionals and slowing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33472"/>
            <a:ext cx="3474720" cy="1920240"/>
          </a:xfrm>
          <a:prstGeom prst="rect">
            <a:avLst/>
          </a:prstGeom>
          <a:solidFill>
            <a:srgbClr val="061A10"/>
          </a:solidFill>
          <a:ln w="508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✦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Identified high-impact workflows. Built executive dashboard automation. Deployed n8n workflows. Implemented Claude &amp; Copilot across all departments. Created custom AI apps via Lovable &amp; Emergent. Ran data literacy program.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740664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937760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Claude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2" y="4919472"/>
            <a:ext cx="105156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493776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MS Copilot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919472"/>
            <a:ext cx="507491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4937760"/>
            <a:ext cx="4160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n8n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03220" y="4919472"/>
            <a:ext cx="896112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6372" y="4937760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Emergent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09060" y="4919472"/>
            <a:ext cx="818388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82212" y="4937760"/>
            <a:ext cx="7269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Lovable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37176" y="4919472"/>
            <a:ext cx="896112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0328" y="4937760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Power BI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3016" y="4919472"/>
            <a:ext cx="1362456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16168" y="4937760"/>
            <a:ext cx="1271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Power 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146304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100s hrs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084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Saved
monthly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74320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27889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35%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Self-service
adoption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402336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4069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AI platforms
deployed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5303519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53492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All Depts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592531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AI
adoption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4558"/>
                </a:solidFill>
              </a:rPr>
              <a:t>cuttingedgeai.tech  ·  shabih@cuttingedgeai.tech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4114800" cy="256032"/>
          </a:xfrm>
          <a:prstGeom prst="rect">
            <a:avLst/>
          </a:prstGeom>
          <a:solidFill>
            <a:srgbClr val="101830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</a:rPr>
              <a:t>DIGITAL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PowerApps Site Inspection Digitization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0"/>
                </a:solidFill>
              </a:rPr>
              <a:t>El-Seif Engineering &amp; Contracting · Saudi Arabia · 2023–Present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36192"/>
            <a:ext cx="7132320" cy="100584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Replaced entirely paper-based SOR and site inspection workflows with a custom PowerApps solution on iPads — enabling real-time photo uploads and recovering 4–5 hours per engineer per week.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474720" cy="1920240"/>
          </a:xfrm>
          <a:prstGeom prst="rect">
            <a:avLst/>
          </a:prstGeom>
          <a:solidFill>
            <a:srgbClr val="1A0808"/>
          </a:solidFill>
          <a:ln w="508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</a:rPr>
              <a:t>⚠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Site engineers spending 4–5 hrs/week on paper forms, manual photo printing, and data re-entry. No real-time visibility. Data often incomplete or delayed by days.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33472"/>
            <a:ext cx="3474720" cy="1920240"/>
          </a:xfrm>
          <a:prstGeom prst="rect">
            <a:avLst/>
          </a:prstGeom>
          <a:solidFill>
            <a:srgbClr val="061A10"/>
          </a:solidFill>
          <a:ln w="508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✦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Built custom PowerApps with native camera integration and form validation. Connected to SharePoint central database. Configured Power Automate notifications. Deployed on iPads with on-site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973836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937760"/>
            <a:ext cx="8823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PowerApps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7884" y="4919472"/>
            <a:ext cx="105156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1036" y="493776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SharePoint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9172" y="4919472"/>
            <a:ext cx="1362456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2324" y="4937760"/>
            <a:ext cx="1271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Power Automate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91356" y="4919472"/>
            <a:ext cx="1129284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4508" y="4937760"/>
            <a:ext cx="10378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iPad/Tablet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4919472"/>
            <a:ext cx="1284732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937760"/>
            <a:ext cx="11932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Microsoft 365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146304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4–5h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084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Per engineer
saved/week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274320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27889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Zero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Paper forms
remaining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402336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4069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Data
completeness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5303519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53492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Real-time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592531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Central
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4558"/>
                </a:solidFill>
              </a:rPr>
              <a:t>cuttingedgeai.tech  ·  shabih@cuttingedgeai.tech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4114800" cy="256032"/>
          </a:xfrm>
          <a:prstGeom prst="rect">
            <a:avLst/>
          </a:prstGeom>
          <a:solidFill>
            <a:srgbClr val="101830"/>
          </a:solidFill>
          <a:ln w="5080">
            <a:solidFill>
              <a:srgbClr val="5B8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B8DF8"/>
                </a:solidFill>
              </a:rPr>
              <a:t>DATA MIGRATION · PROJECT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Oracle PCM → Unifier Migration (Metrolinx)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0"/>
                </a:solidFill>
              </a:rPr>
              <a:t>Metrolinx / Comtech · Toronto, Canada · 2020–2023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36192"/>
            <a:ext cx="7132320" cy="100584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End-to-end migration of 120+ live projects and ~6TB of contract data from Oracle PCM to Oracle Unifier — delivered on time, within budget, and 2–3 months ahead of schedule through SQL-driven efficiency discovery.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474720" cy="1920240"/>
          </a:xfrm>
          <a:prstGeom prst="rect">
            <a:avLst/>
          </a:prstGeom>
          <a:solidFill>
            <a:srgbClr val="1A0808"/>
          </a:solidFill>
          <a:ln w="508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</a:rPr>
              <a:t>⚠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120+ active projects with no freeze window. Fundamentally different PCM and Unifier data structures. Zero tolerance for data errors on publicly-funded transit programs.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33472"/>
            <a:ext cx="3474720" cy="1920240"/>
          </a:xfrm>
          <a:prstGeom prst="rect">
            <a:avLst/>
          </a:prstGeom>
          <a:solidFill>
            <a:srgbClr val="061A10"/>
          </a:solidFill>
          <a:ln w="508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✦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Full data inventory &amp; SQL workflow analysis (saved 250–300 hrs). ETL pipeline design. Phased migration with live continuity. Tableau &amp; Power BI rollout to 200+ users. P6+ECOSYS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1362456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937760"/>
            <a:ext cx="1271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Oracle Unifier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46504" y="4919472"/>
            <a:ext cx="105156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9656" y="493776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Oracle PCM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7792" y="4919472"/>
            <a:ext cx="507491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80944" y="4937760"/>
            <a:ext cx="4160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5012" y="4919472"/>
            <a:ext cx="896112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8164" y="4937760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Power 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0852" y="4919472"/>
            <a:ext cx="818388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4004" y="4937760"/>
            <a:ext cx="7269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Tableau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58968" y="4919472"/>
            <a:ext cx="1207008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49377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Primavera P6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75704" y="4919472"/>
            <a:ext cx="740664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48856" y="4937760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ECOSYS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146304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8DF8"/>
                </a:solidFill>
              </a:rPr>
              <a:t>120+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084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Projects
migrated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74320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27889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8DF8"/>
                </a:solidFill>
              </a:rPr>
              <a:t>~6 TB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Data
migrated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402336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4069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8DF8"/>
                </a:solidFill>
              </a:rPr>
              <a:t>2–3 Months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Ahead of
schedule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5303519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53492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8DF8"/>
                </a:solidFill>
              </a:rPr>
              <a:t>200+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592531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BI users
onboarded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4558"/>
                </a:solidFill>
              </a:rPr>
              <a:t>cuttingedgeai.tech  ·  shabih@cuttingedgeai.tech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4114800" cy="256032"/>
          </a:xfrm>
          <a:prstGeom prst="rect">
            <a:avLst/>
          </a:prstGeom>
          <a:solidFill>
            <a:srgbClr val="101830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</a:rPr>
              <a:t>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98% Query Reduction — Denodo BI (Trans Alta)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0"/>
                </a:solidFill>
              </a:rPr>
              <a:t>Trans Alta Corporation · Calgary, Canada · 2019–2020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36192"/>
            <a:ext cx="7132320" cy="100584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Transformed Trans Alta's BI infrastructure by rebuilding Denodo virtual data models and VQL — cutting critical query execution from 40–50 minutes to 30–40 seconds, enabling near-real-time C-suite decision-making.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474720" cy="1920240"/>
          </a:xfrm>
          <a:prstGeom prst="rect">
            <a:avLst/>
          </a:prstGeom>
          <a:solidFill>
            <a:srgbClr val="1A0808"/>
          </a:solidFill>
          <a:ln w="508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</a:rPr>
              <a:t>⚠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Critical reports taking 40–50 minutes to run. C-suite confidence in BI eroding. Denodo models built without performance optimisation across multiple source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33472"/>
            <a:ext cx="3474720" cy="1920240"/>
          </a:xfrm>
          <a:prstGeom prst="rect">
            <a:avLst/>
          </a:prstGeom>
          <a:solidFill>
            <a:srgbClr val="061A10"/>
          </a:solidFill>
          <a:ln w="508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✦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Full query performance diagnostic. Denodo VQL model reconstruction with push-down optimisation. Intelligent caching configuration. Role-based security &amp; data masking. 5 executive Power BI dashboards.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105156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93776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Denodo VQL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35608" y="4919472"/>
            <a:ext cx="896112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937760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Power BI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41448" y="4919472"/>
            <a:ext cx="507491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937760"/>
            <a:ext cx="4160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58668" y="4919472"/>
            <a:ext cx="973836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31820" y="4937760"/>
            <a:ext cx="8823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REST APIs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1" y="4919472"/>
            <a:ext cx="1673352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5383" y="4937760"/>
            <a:ext cx="1581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Cloud Data Sources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919472"/>
            <a:ext cx="1362456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98464" y="4937760"/>
            <a:ext cx="1271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RBAC &amp; Masking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146304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98%+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084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Query time
reduction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274320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27889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40–50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Previous
execution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402336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4069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30–40 sec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New
execution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5303519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53492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592531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Executive
dashboards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4558"/>
                </a:solidFill>
              </a:rPr>
              <a:t>cuttingedgeai.tech  ·  shabih@cuttingedgeai.tech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4114800" cy="256032"/>
          </a:xfrm>
          <a:prstGeom prst="rect">
            <a:avLst/>
          </a:prstGeom>
          <a:solidFill>
            <a:srgbClr val="101830"/>
          </a:solidFill>
          <a:ln w="50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BF24"/>
                </a:solidFill>
              </a:rPr>
              <a:t>PROJECT CONTROLS · AVIATION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$10B+ Abu Dhabi Airport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0"/>
                </a:solidFill>
              </a:rPr>
              <a:t>PARSONS International · Abu Dhabi, UAE · 2009–2011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36192"/>
            <a:ext cx="7132320" cy="100584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Supported a 150–200 person program management team on one of the Gulf's largest aviation infrastructure programs — implementing ARES-PRISM systems that replaced entirely manual reporting and saved 60–80 hours per month.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474720" cy="1920240"/>
          </a:xfrm>
          <a:prstGeom prst="rect">
            <a:avLst/>
          </a:prstGeom>
          <a:solidFill>
            <a:srgbClr val="1A0808"/>
          </a:solidFill>
          <a:ln w="508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</a:rPr>
              <a:t>⚠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150–200 professionals compiling monthly executive reports entirely by hand. Dozens of hours lost every month on a decade-long, publicly critical aviation megaprogram.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33472"/>
            <a:ext cx="3474720" cy="1920240"/>
          </a:xfrm>
          <a:prstGeom prst="rect">
            <a:avLst/>
          </a:prstGeom>
          <a:solidFill>
            <a:srgbClr val="061A10"/>
          </a:solidFill>
          <a:ln w="508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✦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Implemented ARES-PRISM &amp; PRISM G2 for full program controls. Configured monthly actuals &amp; commitment imports. Maintained P6 schedule integration. Automated executive reporting cycle.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105156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93776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ARES-PRISM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35608" y="4919472"/>
            <a:ext cx="896112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937760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PRISM G2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41448" y="4919472"/>
            <a:ext cx="1207008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9377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Primavera P6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58183" y="4919472"/>
            <a:ext cx="507491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31335" y="4937760"/>
            <a:ext cx="4160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EVM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5403" y="4919472"/>
            <a:ext cx="1984248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8555" y="4937760"/>
            <a:ext cx="1892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Contracts &amp; Variations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146304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$10B+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084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Program
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274320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27889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Professionals
supported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402336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4069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60–80h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Saved per
month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5303519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53492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10+ yrs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592531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Program
duration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4558"/>
                </a:solidFill>
              </a:rPr>
              <a:t>cuttingedgeai.tech  ·  shabih@cuttingedgeai.tech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4114800" cy="256032"/>
          </a:xfrm>
          <a:prstGeom prst="rect">
            <a:avLst/>
          </a:prstGeom>
          <a:solidFill>
            <a:srgbClr val="101830"/>
          </a:solidFill>
          <a:ln w="50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A5FA"/>
                </a:solidFill>
              </a:rPr>
              <a:t>PROJECT CONTROLS · REAL ESTATE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$20B+ Al Raha Beach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0"/>
                </a:solidFill>
              </a:rPr>
              <a:t>ALDAR Laing O'Rourke JV · Abu Dhabi, UAE · 2007–2009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36192"/>
            <a:ext cx="7132320" cy="100584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Led the Primavera Contract Manager rollout across one of the Middle East's largest real estate programs — training 500–600 users and supporting 1,000 simultaneous active platform users.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474720" cy="1920240"/>
          </a:xfrm>
          <a:prstGeom prst="rect">
            <a:avLst/>
          </a:prstGeom>
          <a:solidFill>
            <a:srgbClr val="1A0808"/>
          </a:solidFill>
          <a:ln w="508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</a:rPr>
              <a:t>⚠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Rolling out PCM to 1,000 users across a $20B program from diverse backgrounds — contractors, engineers, document controllers, commercial managers — in a compressed timeframe.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33472"/>
            <a:ext cx="3474720" cy="1920240"/>
          </a:xfrm>
          <a:prstGeom prst="rect">
            <a:avLst/>
          </a:prstGeom>
          <a:solidFill>
            <a:srgbClr val="061A10"/>
          </a:solidFill>
          <a:ln w="508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✦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PCM platform configuration aligned to ALDAR LOR workflows. Role-based training for 500–600 users over 12 months. ACONEX integration managed. Monthly executive dashboards aggregating PCM, ACONEX &amp; P6.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1284732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937760"/>
            <a:ext cx="11932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Primavera PCM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68780" y="4919472"/>
            <a:ext cx="740664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41932" y="4937760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ACONEX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9172" y="4919472"/>
            <a:ext cx="1207008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2324" y="49377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Primavera P6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5908" y="4919472"/>
            <a:ext cx="182880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9060" y="4937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Executive Dashboards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146304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$20B+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84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Program
value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274320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27889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1,000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Active
platform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402336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4069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Users
trained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5303519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53492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3 Systems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92531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Consolidated
in dashboards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4558"/>
                </a:solidFill>
              </a:rPr>
              <a:t>cuttingedgeai.tech  ·  shabih@cuttingedgeai.tech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4114800" cy="256032"/>
          </a:xfrm>
          <a:prstGeom prst="rect">
            <a:avLst/>
          </a:prstGeom>
          <a:solidFill>
            <a:srgbClr val="101830"/>
          </a:solidFill>
          <a:ln w="508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923C"/>
                </a:solidFill>
              </a:rPr>
              <a:t>BUSINESS INTELLIGENCE · OIL &amp;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Oracle Contracts + Maximo 8-Feed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0"/>
                </a:solidFill>
              </a:rPr>
              <a:t>Cenovus Energy · Calgary, Canada · 2016–2018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36192"/>
            <a:ext cx="7132320" cy="100584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Designed and implemented Oracle Contract Management across all Cenovus oil sands projects, and architected an 8-feed Maximo integration — reducing monthly reconciliation from weeks to 2–3 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474720" cy="1920240"/>
          </a:xfrm>
          <a:prstGeom prst="rect">
            <a:avLst/>
          </a:prstGeom>
          <a:solidFill>
            <a:srgbClr val="1A0808"/>
          </a:solidFill>
          <a:ln w="508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</a:rPr>
              <a:t>⚠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Cost Engineers spending 40–50 hrs/week on manual Access/Excel extraction. Monthly Maximo reconciliation taking several weeks with frequent discrepancies.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33472"/>
            <a:ext cx="3474720" cy="1920240"/>
          </a:xfrm>
          <a:prstGeom prst="rect">
            <a:avLst/>
          </a:prstGeom>
          <a:solidFill>
            <a:srgbClr val="061A10"/>
          </a:solidFill>
          <a:ln w="508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✦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Oracle CM implementation across all oil sands projects. 8-feed bidirectional Maximo integration (AFEs, Contracts, POs, Vouchers, Receipts, Invoices, Actuals, Commitments). Oracle BI reporting &amp; Publisher templates.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182880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937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Oracle Contract Mgmt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2848" y="4919472"/>
            <a:ext cx="105156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93776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IBM Maximo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4136" y="4919472"/>
            <a:ext cx="973836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4937760"/>
            <a:ext cx="8823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Oracle 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7700" y="4919472"/>
            <a:ext cx="1751076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0852" y="4937760"/>
            <a:ext cx="16596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Oracle BI Publisher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18504" y="4919472"/>
            <a:ext cx="507491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4937760"/>
            <a:ext cx="4160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146304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923C"/>
                </a:solidFill>
              </a:rPr>
              <a:t>40–50h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084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Per week
saved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274320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27889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923C"/>
                </a:solidFill>
              </a:rPr>
              <a:t>8 Feeds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Integration
feeds built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402336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4069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923C"/>
                </a:solidFill>
              </a:rPr>
              <a:t>Weeks→2h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Monthly
reconciliation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5303519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53492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923C"/>
                </a:solidFill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592531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Reconciliation
automated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4558"/>
                </a:solidFill>
              </a:rPr>
              <a:t>cuttingedgeai.tech  ·  shabih@cuttingedgeai.tech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4114800" cy="256032"/>
          </a:xfrm>
          <a:prstGeom prst="rect">
            <a:avLst/>
          </a:prstGeom>
          <a:solidFill>
            <a:srgbClr val="101830"/>
          </a:solidFill>
          <a:ln w="50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A5FA"/>
                </a:solidFill>
              </a:rPr>
              <a:t>PROJECT CONTROLS · WATER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$850M Shuweihat Water Transmission 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0"/>
                </a:solidFill>
              </a:rPr>
              <a:t>PROJACS International · Abu Dhabi, UAE · 2002–2006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36192"/>
            <a:ext cx="7132320" cy="100584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Delivered the Primavera Expedition implementation for Abu Dhabi's critical $850M water infrastructure program — going live in 6 months against a 2-year planned timeline. The project that started a 23-year career.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474720" cy="1920240"/>
          </a:xfrm>
          <a:prstGeom prst="rect">
            <a:avLst/>
          </a:prstGeom>
          <a:solidFill>
            <a:srgbClr val="1A0808"/>
          </a:solidFill>
          <a:ln w="508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</a:rPr>
              <a:t>⚠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Implementing Primavera Expedition across 4 geographically distributed UAE sites before cloud deployment existed. 2-year plan allocated — team had no precedent for compressing this timeline.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33472"/>
            <a:ext cx="3474720" cy="1920240"/>
          </a:xfrm>
          <a:prstGeom prst="rect">
            <a:avLst/>
          </a:prstGeom>
          <a:solidFill>
            <a:srgbClr val="061A10"/>
          </a:solidFill>
          <a:ln w="508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✦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Requirements analysis &amp; full system configuration. Citrix-based multi-site deployment architecture. 6-month go-live (75% timeline compression). Structured training for 60 users across 4 sites.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182880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937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Primavera Expedition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2848" y="4919472"/>
            <a:ext cx="182880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937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Citrix Remote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51376" y="4919472"/>
            <a:ext cx="1984248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4937760"/>
            <a:ext cx="1892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Cost-Loaded Scheduling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4919472"/>
            <a:ext cx="1751076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4937760"/>
            <a:ext cx="16596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Contract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146304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$850M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84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Program
value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274320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27889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6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Go-live vs
2-year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402336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4069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75%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Timeline
compressed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5303519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53492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92531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Users across
4 sites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4558"/>
                </a:solidFill>
              </a:rPr>
              <a:t>cuttingedgeai.tech  ·  shabih@cuttingedgeai.tech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4114800" cy="256032"/>
          </a:xfrm>
          <a:prstGeom prst="rect">
            <a:avLst/>
          </a:prstGeom>
          <a:solidFill>
            <a:srgbClr val="101830"/>
          </a:solidFill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</a:rPr>
              <a:t>PROJECT CONTROLS · ICONIC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Palm Jumeirah Vehicular Tunnel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0"/>
                </a:solidFill>
              </a:rPr>
              <a:t>PROJACS International · Dubai, UAE · 2002–2006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36192"/>
            <a:ext cx="7132320" cy="100584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Supported project controls on one of the world's most iconic construction programs — managing schedule updates, resource loading, and cost-loaded baseline tracking on a subaqueous tunnel beneath the Arabian Gulf.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474720" cy="1920240"/>
          </a:xfrm>
          <a:prstGeom prst="rect">
            <a:avLst/>
          </a:prstGeom>
          <a:solidFill>
            <a:srgbClr val="1A0808"/>
          </a:solidFill>
          <a:ln w="508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</a:rPr>
              <a:t>⚠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Subaqueous tunnel construction with zero sequencing margin. High-profile pressure with dozens of contractor interfaces. Managed concurrently with the Shuweihat implementation.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33472"/>
            <a:ext cx="3474720" cy="1920240"/>
          </a:xfrm>
          <a:prstGeom prst="rect">
            <a:avLst/>
          </a:prstGeom>
          <a:solidFill>
            <a:srgbClr val="061A10"/>
          </a:solidFill>
          <a:ln w="508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✦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443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A0"/>
                </a:solidFill>
              </a:rPr>
              <a:t>Regular schedule update cycles incorporating contractor progress. Resource &amp; cost tracking in Primavera Expedition. Progress reporting &amp; variance analysis. Full application stewardship.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54558"/>
                </a:solidFill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1828800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937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Primavera Expedition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2848" y="4919472"/>
            <a:ext cx="1984248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937760"/>
            <a:ext cx="1892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Cost-Loaded Scheduling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6824" y="4919472"/>
            <a:ext cx="507491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4937760"/>
            <a:ext cx="4160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EVM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24044" y="4919472"/>
            <a:ext cx="1595628" cy="256032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97196" y="4937760"/>
            <a:ext cx="15041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8DF8"/>
                </a:solidFill>
              </a:rPr>
              <a:t>Resource Tracking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146304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Iconic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84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World-famous
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274320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27889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Subaqueous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Tunnel beneath
Arabian Gulf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4023360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4069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Concurrent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With Shuweihat
implementation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5303519"/>
            <a:ext cx="4297680" cy="1143000"/>
          </a:xfrm>
          <a:prstGeom prst="rect">
            <a:avLst/>
          </a:prstGeom>
          <a:solidFill>
            <a:srgbClr val="18181F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53492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23 yrs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92531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0"/>
                </a:solidFill>
              </a:rPr>
              <a:t>Career built
from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4558"/>
                </a:solidFill>
              </a:rPr>
              <a:t>cuttingedgeai.tech  ·  shabih@cuttingedgeai.tech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B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12880" cy="6309360"/>
          </a:xfrm>
          <a:prstGeom prst="rect">
            <a:avLst/>
          </a:prstGeom>
          <a:solidFill>
            <a:srgbClr val="18181F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DF8"/>
                </a:solidFill>
              </a:rPr>
              <a:t>── LET'S BUILD SOMETHING TRANSFORMATIVE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Ready to drive your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5B8DF8"/>
                </a:solidFill>
              </a:rPr>
              <a:t>Digital Transformation?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A0"/>
                </a:solidFill>
              </a:rPr>
              <a:t>Available for executive leadership roles and consulting engagements across the Middle East &amp; North America.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2651760" cy="1005840"/>
          </a:xfrm>
          <a:prstGeom prst="rect">
            <a:avLst/>
          </a:prstGeom>
          <a:solidFill>
            <a:srgbClr val="111118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90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8"/>
                </a:solidFill>
              </a:rPr>
              <a:t>🌐 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cuttingedgeai.tech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3017520"/>
            <a:ext cx="2651760" cy="1005840"/>
          </a:xfrm>
          <a:prstGeom prst="rect">
            <a:avLst/>
          </a:prstGeom>
          <a:solidFill>
            <a:srgbClr val="111118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090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8"/>
                </a:solidFill>
              </a:rPr>
              <a:t>📧 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83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shabih@cuttingedgeai.tech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3017520"/>
            <a:ext cx="2651760" cy="1005840"/>
          </a:xfrm>
          <a:prstGeom prst="rect">
            <a:avLst/>
          </a:prstGeom>
          <a:solidFill>
            <a:srgbClr val="111118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090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8"/>
                </a:solidFill>
              </a:rPr>
              <a:t>📅  Calendly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83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calendly.com/shabih-hasnain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19" y="3017520"/>
            <a:ext cx="2651760" cy="1005840"/>
          </a:xfrm>
          <a:prstGeom prst="rect">
            <a:avLst/>
          </a:prstGeom>
          <a:solidFill>
            <a:srgbClr val="111118"/>
          </a:solidFill>
          <a:ln w="508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3090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8"/>
                </a:solidFill>
              </a:rPr>
              <a:t>💼  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383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linkedin.com/in/shabih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54558"/>
                </a:solidFill>
              </a:rPr>
              <a:t>AVAILABLE FOR: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26280"/>
            <a:ext cx="1956815" cy="274320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44568"/>
            <a:ext cx="18196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Executive Leadership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42615" y="4526280"/>
            <a:ext cx="2125065" cy="274320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34056" y="4544568"/>
            <a:ext cx="198790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Digital Transformation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04841" y="4526280"/>
            <a:ext cx="1199692" cy="274320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96281" y="4544568"/>
            <a:ext cx="10625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AI Strategy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1694" y="4526280"/>
            <a:ext cx="1283817" cy="274320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3134" y="4544568"/>
            <a:ext cx="11466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Oracle / PMO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62671" y="4526280"/>
            <a:ext cx="2040940" cy="274320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1" y="4544568"/>
            <a:ext cx="19037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Training &amp; Enablement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40772" y="4526280"/>
            <a:ext cx="1536192" cy="274320"/>
          </a:xfrm>
          <a:prstGeom prst="rect">
            <a:avLst/>
          </a:prstGeom>
          <a:solidFill>
            <a:srgbClr val="111118"/>
          </a:solidFill>
          <a:ln w="3810">
            <a:solidFill>
              <a:srgbClr val="25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2212" y="4544568"/>
            <a:ext cx="1399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0"/>
                </a:solidFill>
              </a:rPr>
              <a:t>ME &amp; NA Markets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4558"/>
                </a:solidFill>
              </a:rPr>
              <a:t>Shabih ul Hasnain  ·  Sr. Manager, Digital Transformation &amp; AI Enablement  ·  cuttingedgeai.tech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